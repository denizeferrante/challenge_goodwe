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ChargeGrid transforma o carregador residencial GoodWe HCA G2 em eletroposto compartilhado para galerias comerciais. Vamos mostrar a arquitetura, o fluxo de dados, as três personas e os diferenciais.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a camada de hardware: painéis, carport solar e fachada BIPV geram para o inversor; o CT fica depois de todas as cargas e antes do medidor da concessionária, que fatura. Em verde-limão, a nossa solução; em vermelho, o que existe na solução real mas está fora do protótipo. À direita, o fluxo de dados em quatro etapas: Inversor e Medidor (o inversor GoodWe converte corrente contínua em alternada e orquestra a energia; o medidor inteligente mede todo o fluxo), Supabase como backend, Preditividade e Síndico Virtual (geramos uma base sintética horária de 649 dias, calibrada para São Paulo e com falhas de telemetria, para treinar Random Forest e K-Means), e App, com o limite de potência do DLM voltando ao carregador. A API SEMS Plus aparece em vermelho porque é integração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é um fluxo, do dispositivo ao app, com linguagem e framework em azul. Seta cheia funciona hoje; tracejada é arquitetura alvo. À direita, a foto do protótipo físico do carregador, montado com o ESP32: o botão é o plugue e o LED mostra o status da vaga. Hoje funcionam a demonstração física, o mapa, a previsão, o assistente e o pagamento; recarga por OCPP e energia pela API SEMS são arquitetura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escolha de papel separa motorista e gestor. No gestor, ter a solução instalada leva ao painel completo; sem ela, ao modo de avaliação do prospect.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motorista encontra o eletroposto, libera a carga por QR Code, acompanha a sessão e recebe o recibo com a captura só dos kWh entregues.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gestor acompanha energia, vagas e faturamento, ajusta a tarifa base com o fator α e conversa com o Síndico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prospect simula a viabilidade, vê quantas vagas cabem no sol e chega aos parceiros GoodWe.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parte dos diferenciais: IA como motor lógico com machine learning (Random Forest e K-Means), LLM com RAG no Síndico Virtual, tarifa dinâmica sobre a tarifa base do gestor (tarifa binômica, ponta e três modos de carregamento), load shifting preditivo e o funil de vendas: pela aba Casa, o motorista acessa o Smart Home e pode levar para casa a solução residencial que a GoodWe já tem, com geração solar, bateria e carregador.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parte dos diferenciais: o ecossistema GoodWe no simulador, que soma cobertura solar, fachada BIPV, carport e baterias; o impacto ambiental da galeria, com CO₂ evitado e equivalentes; e os parceiros GoodWe, que estimulam a eficiência energética, somam créditos LEED e AQUA e levam a galeria a mais produtos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parte dos diferenciais: os dashboards de energia do gestor. O Painel mostra o fluxo de energia em tempo real; ao expandir Consumo solar e da rede por período aparecem o consumo hora a hora por dia, semana, mês e ano e o destino do sol consumido; ao expandir Carregadores EV aparece de onde veio a energia das vagas no dia: solar direto, bateria BESS e rede, seguindo o rateio que reserva 80% da geração às vagas.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Quarta parte dos diferenciais: os dashboards financeiros. Ao expandir Faturamento aparecem o total do período, o faturado, o economizado e a receita por hora; ao expandir Gasto com energia da rede aparecem o custo por galeria e eletroposto, os créditos de exportação e a economia potencial com load shifting; a Distribuição da energia solar mostra, por destino, a receita e a economia geradas pelo sol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Agradecemos à GoodWe e à FIAP. Equipe Ecovolts, turma CCPW, equipe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l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Shape 0"/>
          <p:cNvSpPr/>
          <p:nvPr/>
        </p:nvSpPr>
        <p:spPr>
          <a:xfrm>
            <a:off x="8257032" y="4791456"/>
            <a:ext cx="475488" cy="237744"/>
          </a:xfrm>
          <a:prstGeom prst="rect">
            <a:avLst>
              <a:gd name="adj" fmla="val 50000"/>
            </a:avLst>
          </a:prstGeom>
          <a:solidFill>
            <a:srgbClr val="F2F3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47548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 CHALLENGE GOODWE + FIAP 2026</a:t>
            </a:r>
            <a:endParaRPr lang="en-US" sz="1000" dirty="0"/>
          </a:p>
        </p:txBody>
      </p:sp>
      <p:pic>
        <p:nvPicPr>
          <p:cNvPr id="3" name="ChargeGrid Intelligence" descr="ChargeGrid Intellig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1091582"/>
          </a:xfrm>
          <a:prstGeom prst="rect">
            <a:avLst/>
          </a:prstGeom>
        </p:spPr>
      </p:pic>
      <p:sp>
        <p:nvSpPr>
          <p:cNvPr id="4" name="Ecovolts botão"/>
          <p:cNvSpPr/>
          <p:nvPr/>
        </p:nvSpPr>
        <p:spPr>
          <a:xfrm>
            <a:off x="457200" y="2724912"/>
            <a:ext cx="2834640" cy="603504"/>
          </a:xfrm>
          <a:prstGeom prst="roundRect">
            <a:avLst>
              <a:gd name="adj" fmla="val 28409"/>
            </a:avLst>
          </a:prstGeom>
          <a:solidFill>
            <a:srgbClr val="1A2130"/>
          </a:solidFill>
          <a:ln w="15875">
            <a:solidFill>
              <a:srgbClr val="9CFE33"/>
            </a:solidFill>
            <a:prstDash val="solid"/>
          </a:ln>
        </p:spPr>
      </p:sp>
      <p:sp>
        <p:nvSpPr>
          <p:cNvPr id="5" name="Ecovolts ícone fundo"/>
          <p:cNvSpPr/>
          <p:nvPr/>
        </p:nvSpPr>
        <p:spPr>
          <a:xfrm>
            <a:off x="566928" y="2825496"/>
            <a:ext cx="402336" cy="402336"/>
          </a:xfrm>
          <a:prstGeom prst="roundRect">
            <a:avLst>
              <a:gd name="adj" fmla="val 28409"/>
            </a:avLst>
          </a:prstGeom>
          <a:solidFill>
            <a:srgbClr val="F5333F"/>
          </a:solidFill>
          <a:ln w="12700">
            <a:solidFill>
              <a:srgbClr val="F5333F"/>
            </a:solidFill>
            <a:prstDash val="solid"/>
          </a:ln>
        </p:spPr>
      </p:sp>
      <p:pic>
        <p:nvPicPr>
          <p:cNvPr id="6" name="Ecovolt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16936"/>
            <a:ext cx="219456" cy="219456"/>
          </a:xfrm>
          <a:prstGeom prst="rect">
            <a:avLst/>
          </a:prstGeom>
        </p:spPr>
      </p:pic>
      <p:sp>
        <p:nvSpPr>
          <p:cNvPr id="7" name="Ecovolts"/>
          <p:cNvSpPr txBox="1"/>
          <p:nvPr/>
        </p:nvSpPr>
        <p:spPr>
          <a:xfrm>
            <a:off x="1078992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1600" dirty="0"/>
          </a:p>
          <a:p>
            <a:pPr indent="0" marL="0">
              <a:buNone/>
            </a:pPr>
            <a:r>
              <a:rPr lang="en-US" sz="900" dirty="0">
                <a:solidFill>
                  <a:srgbClr val="AEB4C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Equipe 4 · Turma CCPW</a:t>
            </a:r>
            <a:endParaRPr lang="en-US" sz="1600" dirty="0"/>
          </a:p>
        </p:txBody>
      </p:sp>
      <p:sp>
        <p:nvSpPr>
          <p:cNvPr id="8" name="Ecovolts seta"/>
          <p:cNvSpPr txBox="1"/>
          <p:nvPr/>
        </p:nvSpPr>
        <p:spPr>
          <a:xfrm>
            <a:off x="3017520" y="272491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Motorista pílula"/>
          <p:cNvSpPr/>
          <p:nvPr/>
        </p:nvSpPr>
        <p:spPr>
          <a:xfrm>
            <a:off x="5285232" y="44988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7A51"/>
          </a:solidFill>
          <a:ln w="12700">
            <a:solidFill>
              <a:srgbClr val="0F7A51"/>
            </a:solidFill>
            <a:prstDash val="solid"/>
          </a:ln>
        </p:spPr>
      </p:sp>
      <p:sp>
        <p:nvSpPr>
          <p:cNvPr id="10" name="Motorista"/>
          <p:cNvSpPr txBox="1"/>
          <p:nvPr/>
        </p:nvSpPr>
        <p:spPr>
          <a:xfrm>
            <a:off x="5285232" y="4498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Motorista</a:t>
            </a:r>
            <a:endParaRPr lang="en-US" sz="1000" dirty="0"/>
          </a:p>
        </p:txBody>
      </p:sp>
      <p:sp>
        <p:nvSpPr>
          <p:cNvPr id="11" name="Gestor pílula"/>
          <p:cNvSpPr/>
          <p:nvPr/>
        </p:nvSpPr>
        <p:spPr>
          <a:xfrm>
            <a:off x="6336792" y="449884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1D4EA8"/>
          </a:solidFill>
          <a:ln w="12700">
            <a:solidFill>
              <a:srgbClr val="1D4EA8"/>
            </a:solidFill>
            <a:prstDash val="solid"/>
          </a:ln>
        </p:spPr>
      </p:sp>
      <p:sp>
        <p:nvSpPr>
          <p:cNvPr id="12" name="Gestor"/>
          <p:cNvSpPr txBox="1"/>
          <p:nvPr/>
        </p:nvSpPr>
        <p:spPr>
          <a:xfrm>
            <a:off x="6336792" y="4498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Gestor</a:t>
            </a:r>
            <a:endParaRPr lang="en-US" sz="1000" dirty="0"/>
          </a:p>
        </p:txBody>
      </p:sp>
      <p:sp>
        <p:nvSpPr>
          <p:cNvPr id="13" name="Gestor prospect pílula"/>
          <p:cNvSpPr/>
          <p:nvPr/>
        </p:nvSpPr>
        <p:spPr>
          <a:xfrm>
            <a:off x="7178040" y="4498848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B56B00"/>
          </a:solidFill>
          <a:ln w="12700">
            <a:solidFill>
              <a:srgbClr val="B56B00"/>
            </a:solidFill>
            <a:prstDash val="solid"/>
          </a:ln>
        </p:spPr>
      </p:sp>
      <p:sp>
        <p:nvSpPr>
          <p:cNvPr id="14" name="Gestor prospect"/>
          <p:cNvSpPr txBox="1"/>
          <p:nvPr/>
        </p:nvSpPr>
        <p:spPr>
          <a:xfrm>
            <a:off x="7178040" y="4498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Gestor prospect</a:t>
            </a:r>
            <a:endParaRPr lang="en-US" sz="1000" dirty="0"/>
          </a:p>
        </p:txBody>
      </p:sp>
      <p:pic>
        <p:nvPicPr>
          <p:cNvPr id="15" name="Protótipo do carregador" descr="Protótipo físico do carregador GoodWe com ESP3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313" y="2395728"/>
            <a:ext cx="983613" cy="2514600"/>
          </a:xfrm>
          <a:prstGeom prst="rect">
            <a:avLst/>
          </a:prstGeom>
        </p:spPr>
      </p:pic>
      <p:sp>
        <p:nvSpPr>
          <p:cNvPr id="16" name="Integrantes título"/>
          <p:cNvSpPr txBox="1"/>
          <p:nvPr/>
        </p:nvSpPr>
        <p:spPr>
          <a:xfrm>
            <a:off x="457200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INTEGRANTES</a:t>
            </a:r>
            <a:endParaRPr lang="en-US" sz="1000" dirty="0"/>
          </a:p>
        </p:txBody>
      </p:sp>
      <p:sp>
        <p:nvSpPr>
          <p:cNvPr id="17" name="Integrantes"/>
          <p:cNvSpPr txBox="1"/>
          <p:nvPr/>
        </p:nvSpPr>
        <p:spPr>
          <a:xfrm>
            <a:off x="457200" y="376732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572899   </a:t>
            </a:r>
            <a:pPr indent="0" marL="0">
              <a:buNone/>
            </a:pPr>
            <a:r>
              <a:rPr lang="en-US" sz="9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Patrick Fernandes Martins Pais</a:t>
            </a:r>
            <a:pPr indent="0" marL="0">
              <a:buNone/>
            </a:pPr>
            <a:r>
              <a:rPr lang="en-US" sz="9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 Scrum Master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571836   </a:t>
            </a:r>
            <a:pPr indent="0" marL="0">
              <a:buNone/>
            </a:pPr>
            <a:r>
              <a:rPr lang="en-US" sz="9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Bruna Yukimy Hada</a:t>
            </a:r>
            <a:pPr indent="0" marL="0">
              <a:buNone/>
            </a:pPr>
            <a:r>
              <a:rPr lang="en-US" sz="9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 Desenvolvedora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571562   </a:t>
            </a:r>
            <a:pPr indent="0" marL="0">
              <a:buNone/>
            </a:pPr>
            <a:r>
              <a:rPr lang="en-US" sz="9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Denize Ferrante</a:t>
            </a:r>
            <a:pPr indent="0" marL="0">
              <a:buNone/>
            </a:pPr>
            <a:r>
              <a:rPr lang="en-US" sz="9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 Desenvolvedora e Product Owner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570436   </a:t>
            </a:r>
            <a:pPr indent="0" marL="0">
              <a:buNone/>
            </a:pPr>
            <a:r>
              <a:rPr lang="en-US" sz="9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Gabriel Del Pizzo Pintor</a:t>
            </a:r>
            <a:pPr indent="0" marL="0">
              <a:buNone/>
            </a:pPr>
            <a:r>
              <a:rPr lang="en-US" sz="9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 Desenvolvedor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572395   </a:t>
            </a:r>
            <a:pPr indent="0" marL="0">
              <a:buNone/>
            </a:pPr>
            <a:r>
              <a:rPr lang="en-US" sz="9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Gabriel Dias Menezes</a:t>
            </a:r>
            <a:pPr indent="0" marL="0">
              <a:buNone/>
            </a:pPr>
            <a:r>
              <a:rPr lang="en-US" sz="9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 Desenvolvedor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570540   </a:t>
            </a:r>
            <a:pPr indent="0" marL="0">
              <a:buNone/>
            </a:pPr>
            <a:r>
              <a:rPr lang="en-US" sz="9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Ian Rodrigues Martins</a:t>
            </a:r>
            <a:pPr indent="0" marL="0">
              <a:buNone/>
            </a:pPr>
            <a:r>
              <a:rPr lang="en-US" sz="9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 Desenvolvedor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 ·  ARQUITETURA DA SOLUÇÃO</a:t>
            </a:r>
            <a:endParaRPr lang="en-US" sz="1000" dirty="0"/>
          </a:p>
        </p:txBody>
      </p:sp>
      <p:pic>
        <p:nvPicPr>
          <p:cNvPr id="3" name="Título" descr="Hardware e caminho dos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4550664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5" name="Arquitetura ativo"/>
          <p:cNvSpPr/>
          <p:nvPr/>
        </p:nvSpPr>
        <p:spPr>
          <a:xfrm>
            <a:off x="2926080" y="4800600"/>
            <a:ext cx="1108253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6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7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8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9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pic>
        <p:nvPicPr>
          <p:cNvPr id="10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1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Hardware e caminho dos dados" descr="Hardware e caminho dos dad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24" y="1115568"/>
            <a:ext cx="7393952" cy="3529584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 ·  FLUXO DE DADOS</a:t>
            </a:r>
            <a:endParaRPr lang="en-US" sz="1000" dirty="0"/>
          </a:p>
        </p:txBody>
      </p:sp>
      <p:pic>
        <p:nvPicPr>
          <p:cNvPr id="3" name="Título" descr="APIs, Supabase, ESP32 e st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4453128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sp>
        <p:nvSpPr>
          <p:cNvPr id="7" name="Dados ativo"/>
          <p:cNvSpPr/>
          <p:nvPr/>
        </p:nvSpPr>
        <p:spPr>
          <a:xfrm>
            <a:off x="4070909" y="4800600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8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9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pic>
        <p:nvPicPr>
          <p:cNvPr id="10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1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APIs, Supabase, ESP32 e stack" descr="APIs, Supabase, ESP32 e sta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75" y="1115568"/>
            <a:ext cx="7275649" cy="3529584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 ·  PERSONAS</a:t>
            </a:r>
            <a:endParaRPr lang="en-US" sz="1000" dirty="0"/>
          </a:p>
        </p:txBody>
      </p:sp>
      <p:pic>
        <p:nvPicPr>
          <p:cNvPr id="3" name="Título" descr="Três personas, um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3252216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sp>
        <p:nvSpPr>
          <p:cNvPr id="9" name="Personas ativo"/>
          <p:cNvSpPr/>
          <p:nvPr/>
        </p:nvSpPr>
        <p:spPr>
          <a:xfrm>
            <a:off x="4820717" y="4800600"/>
            <a:ext cx="91074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0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1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Três personas, um app" descr="Três personas, um ap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341" y="1097280"/>
            <a:ext cx="6507318" cy="3246120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 ·  PERSONAS  ·  MOTORISTA</a:t>
            </a:r>
            <a:endParaRPr lang="en-US" sz="1000" dirty="0"/>
          </a:p>
        </p:txBody>
      </p:sp>
      <p:pic>
        <p:nvPicPr>
          <p:cNvPr id="3" name="Título" descr="Encontrar, carregar e pag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3968496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sp>
        <p:nvSpPr>
          <p:cNvPr id="9" name="Personas ativo"/>
          <p:cNvSpPr/>
          <p:nvPr/>
        </p:nvSpPr>
        <p:spPr>
          <a:xfrm>
            <a:off x="4820717" y="4800600"/>
            <a:ext cx="91074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0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1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Encontrar, carregar e pagar" descr="Encontrar, carregar e pag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696" y="1115568"/>
            <a:ext cx="6356608" cy="3529584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 ·  PERSONAS  ·  GESTOR DA GALERIA</a:t>
            </a:r>
            <a:endParaRPr lang="en-US" sz="1000" dirty="0"/>
          </a:p>
        </p:txBody>
      </p:sp>
      <p:pic>
        <p:nvPicPr>
          <p:cNvPr id="3" name="Título" descr="Operar energia, vagas e rece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4501896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sp>
        <p:nvSpPr>
          <p:cNvPr id="9" name="Personas ativo"/>
          <p:cNvSpPr/>
          <p:nvPr/>
        </p:nvSpPr>
        <p:spPr>
          <a:xfrm>
            <a:off x="4820717" y="4800600"/>
            <a:ext cx="91074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0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1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Operar energia, vagas e receita" descr="Operar energia, vagas e recei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977" y="1115568"/>
            <a:ext cx="6068046" cy="3529584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 ·  PERSONAS  ·  GESTOR PROSPECT</a:t>
            </a:r>
            <a:endParaRPr lang="en-US" sz="1000" dirty="0"/>
          </a:p>
        </p:txBody>
      </p:sp>
      <p:pic>
        <p:nvPicPr>
          <p:cNvPr id="3" name="Título" descr="Avaliar antes de insta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3538728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sp>
        <p:nvSpPr>
          <p:cNvPr id="9" name="Personas ativo"/>
          <p:cNvSpPr/>
          <p:nvPr/>
        </p:nvSpPr>
        <p:spPr>
          <a:xfrm>
            <a:off x="4820717" y="4800600"/>
            <a:ext cx="91074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0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1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9CFE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Avaliar antes de instalar" descr="Avaliar antes de instal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401" y="1115568"/>
            <a:ext cx="6969198" cy="3529584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 ·  DIFERENCIAIS  ·  1 DE 4</a:t>
            </a:r>
            <a:endParaRPr lang="en-US" sz="1000" dirty="0"/>
          </a:p>
        </p:txBody>
      </p:sp>
      <p:pic>
        <p:nvPicPr>
          <p:cNvPr id="3" name="Título" descr="Inteligência e funil de ven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4224528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pic>
        <p:nvPicPr>
          <p:cNvPr id="9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0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sp>
        <p:nvSpPr>
          <p:cNvPr id="11" name="Diferenciais ativo"/>
          <p:cNvSpPr/>
          <p:nvPr/>
        </p:nvSpPr>
        <p:spPr>
          <a:xfrm>
            <a:off x="5768035" y="4800600"/>
            <a:ext cx="117409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ia trecho do app" descr="IA como motor lógico + Machine Learn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1228756"/>
            <a:ext cx="1234440" cy="1401256"/>
          </a:xfrm>
          <a:prstGeom prst="rect">
            <a:avLst/>
          </a:prstGeom>
        </p:spPr>
      </p:pic>
      <p:sp>
        <p:nvSpPr>
          <p:cNvPr id="16" name="IA como motor lógico + Machine Learning"/>
          <p:cNvSpPr txBox="1"/>
          <p:nvPr/>
        </p:nvSpPr>
        <p:spPr>
          <a:xfrm>
            <a:off x="1764792" y="1115568"/>
            <a:ext cx="1325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IA como motor lógico + Machine Learning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Random Forest prevê o consumo hora a hora; K-Means classifica o dia (R² 0,961).</a:t>
            </a:r>
            <a:endParaRPr lang="en-US" sz="1200" dirty="0"/>
          </a:p>
        </p:txBody>
      </p:sp>
      <p:pic>
        <p:nvPicPr>
          <p:cNvPr id="17" name="llm trecho do app" descr="LLM + RA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832" y="1313554"/>
            <a:ext cx="1234440" cy="1231660"/>
          </a:xfrm>
          <a:prstGeom prst="rect">
            <a:avLst/>
          </a:prstGeom>
        </p:spPr>
      </p:pic>
      <p:sp>
        <p:nvSpPr>
          <p:cNvPr id="18" name="LLM + RAG"/>
          <p:cNvSpPr txBox="1"/>
          <p:nvPr/>
        </p:nvSpPr>
        <p:spPr>
          <a:xfrm>
            <a:off x="4590288" y="1115568"/>
            <a:ext cx="1325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LLM + RAG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Síndico Virtual responde com os números do modelo e protege dados (LGPD).</a:t>
            </a:r>
            <a:endParaRPr lang="en-US" sz="1200" dirty="0"/>
          </a:p>
        </p:txBody>
      </p:sp>
      <p:pic>
        <p:nvPicPr>
          <p:cNvPr id="19" name="ls trecho do app" descr="Load shift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328" y="1200953"/>
            <a:ext cx="1234440" cy="1456862"/>
          </a:xfrm>
          <a:prstGeom prst="rect">
            <a:avLst/>
          </a:prstGeom>
        </p:spPr>
      </p:pic>
      <p:sp>
        <p:nvSpPr>
          <p:cNvPr id="20" name="Load shifting"/>
          <p:cNvSpPr txBox="1"/>
          <p:nvPr/>
        </p:nvSpPr>
        <p:spPr>
          <a:xfrm>
            <a:off x="7415784" y="1115568"/>
            <a:ext cx="1325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Load shifting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Compra energia fora de ponta e usa na ponta só quando a previsão mostra economia.</a:t>
            </a:r>
            <a:endParaRPr lang="en-US" sz="1200" dirty="0"/>
          </a:p>
        </p:txBody>
      </p:sp>
      <p:pic>
        <p:nvPicPr>
          <p:cNvPr id="21" name="tarifa trecho do app" descr="Tarifa dinâmica com tarifa bas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1" y="2889504"/>
            <a:ext cx="1766916" cy="1627632"/>
          </a:xfrm>
          <a:prstGeom prst="rect">
            <a:avLst/>
          </a:prstGeom>
        </p:spPr>
      </p:pic>
      <p:pic>
        <p:nvPicPr>
          <p:cNvPr id="22" name="modo trecho do app" descr="Tarifa dinâmica com tarifa bas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127" y="2889504"/>
            <a:ext cx="1122156" cy="1627632"/>
          </a:xfrm>
          <a:prstGeom prst="rect">
            <a:avLst/>
          </a:prstGeom>
        </p:spPr>
      </p:pic>
      <p:sp>
        <p:nvSpPr>
          <p:cNvPr id="23" name="Tarifa dinâmica com tarifa base"/>
          <p:cNvSpPr txBox="1"/>
          <p:nvPr/>
        </p:nvSpPr>
        <p:spPr>
          <a:xfrm>
            <a:off x="3574299" y="2889504"/>
            <a:ext cx="1325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Tarifa dinâmica com tarifa base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Base do gestor × fator α: tarifa binômica, ponta e 3 modos de carregamento.</a:t>
            </a:r>
            <a:endParaRPr lang="en-US" sz="1200" dirty="0"/>
          </a:p>
        </p:txBody>
      </p:sp>
      <p:pic>
        <p:nvPicPr>
          <p:cNvPr id="24" name="funil trecho do app" descr="Funil de vendas: Smart Hom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7339" y="2889504"/>
            <a:ext cx="1069036" cy="1627632"/>
          </a:xfrm>
          <a:prstGeom prst="rect">
            <a:avLst/>
          </a:prstGeom>
        </p:spPr>
      </p:pic>
      <p:pic>
        <p:nvPicPr>
          <p:cNvPr id="25" name="smart trecho do app" descr="Funil de vendas: Smart Hom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7815" y="2889504"/>
            <a:ext cx="1026518" cy="1627632"/>
          </a:xfrm>
          <a:prstGeom prst="rect">
            <a:avLst/>
          </a:prstGeom>
        </p:spPr>
      </p:pic>
      <p:sp>
        <p:nvSpPr>
          <p:cNvPr id="26" name="Funil de vendas: Smart Home"/>
          <p:cNvSpPr txBox="1"/>
          <p:nvPr/>
        </p:nvSpPr>
        <p:spPr>
          <a:xfrm>
            <a:off x="7352349" y="2889504"/>
            <a:ext cx="1325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Funil de vendas: Smart Home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Pela aba Casa, o motorista pode instalar em casa a solução residencial GoodWe que já existe e acompanhar geração solar, bateria e consumo.</a:t>
            </a:r>
            <a:endParaRPr lang="en-US" sz="120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 ·  DIFERENCIAIS  ·  2 DE 4</a:t>
            </a:r>
            <a:endParaRPr lang="en-US" sz="1000" dirty="0"/>
          </a:p>
        </p:txBody>
      </p:sp>
      <p:pic>
        <p:nvPicPr>
          <p:cNvPr id="3" name="Título" descr="Ecossistema, impacto e parcei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4757928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pic>
        <p:nvPicPr>
          <p:cNvPr id="9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0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sp>
        <p:nvSpPr>
          <p:cNvPr id="11" name="Diferenciais ativo"/>
          <p:cNvSpPr/>
          <p:nvPr/>
        </p:nvSpPr>
        <p:spPr>
          <a:xfrm>
            <a:off x="5768035" y="4800600"/>
            <a:ext cx="117409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eco trecho do app" descr="Ecossistema GoodW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43" y="1115568"/>
            <a:ext cx="2042510" cy="2606040"/>
          </a:xfrm>
          <a:prstGeom prst="rect">
            <a:avLst/>
          </a:prstGeom>
        </p:spPr>
      </p:pic>
      <p:sp>
        <p:nvSpPr>
          <p:cNvPr id="16" name="Ecossistema GoodWe"/>
          <p:cNvSpPr txBox="1"/>
          <p:nvPr/>
        </p:nvSpPr>
        <p:spPr>
          <a:xfrm>
            <a:off x="506883" y="3813048"/>
            <a:ext cx="254543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Ecossistema GoodWe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simulador soma cobertura solar, fachada BIPV, carport e baterias GoodWe ao que a galeria já tem.</a:t>
            </a:r>
            <a:endParaRPr lang="en-US" sz="1350" dirty="0"/>
          </a:p>
        </p:txBody>
      </p:sp>
      <p:pic>
        <p:nvPicPr>
          <p:cNvPr id="17" name="sus trecho do app" descr="Sustentabilida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933" y="1115568"/>
            <a:ext cx="2262134" cy="2606040"/>
          </a:xfrm>
          <a:prstGeom prst="rect">
            <a:avLst/>
          </a:prstGeom>
        </p:spPr>
      </p:pic>
      <p:sp>
        <p:nvSpPr>
          <p:cNvPr id="18" name="Sustentabilidade"/>
          <p:cNvSpPr txBox="1"/>
          <p:nvPr/>
        </p:nvSpPr>
        <p:spPr>
          <a:xfrm>
            <a:off x="3200400" y="3813048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Sustentabilidade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CO₂ evitado, árvores e km sem emissão, com a origem da energia.</a:t>
            </a:r>
            <a:endParaRPr lang="en-US" sz="1350" dirty="0"/>
          </a:p>
        </p:txBody>
      </p:sp>
      <p:pic>
        <p:nvPicPr>
          <p:cNvPr id="19" name="parc trecho do app" descr="Parceiros GoodW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147" y="1115568"/>
            <a:ext cx="2042510" cy="2606040"/>
          </a:xfrm>
          <a:prstGeom prst="rect">
            <a:avLst/>
          </a:prstGeom>
        </p:spPr>
      </p:pic>
      <p:sp>
        <p:nvSpPr>
          <p:cNvPr id="20" name="Parceiros GoodWe"/>
          <p:cNvSpPr txBox="1"/>
          <p:nvPr/>
        </p:nvSpPr>
        <p:spPr>
          <a:xfrm>
            <a:off x="6091687" y="3813048"/>
            <a:ext cx="254543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Parceiros GoodWe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Credenciados para LEED e AQUA, levam a galeria a mais produtos GoodWe.</a:t>
            </a:r>
            <a:endParaRPr lang="en-US" sz="13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 ·  DIFERENCIAIS  ·  3 DE 4</a:t>
            </a:r>
            <a:endParaRPr lang="en-US" sz="1000" dirty="0"/>
          </a:p>
        </p:txBody>
      </p:sp>
      <p:pic>
        <p:nvPicPr>
          <p:cNvPr id="3" name="Título" descr="Dashboards de ener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3343656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pic>
        <p:nvPicPr>
          <p:cNvPr id="9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0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sp>
        <p:nvSpPr>
          <p:cNvPr id="11" name="Diferenciais ativo"/>
          <p:cNvSpPr/>
          <p:nvPr/>
        </p:nvSpPr>
        <p:spPr>
          <a:xfrm>
            <a:off x="5768035" y="4800600"/>
            <a:ext cx="117409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painel trecho do app" descr="Energia em tempo re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80" y="1115568"/>
            <a:ext cx="1753154" cy="2606040"/>
          </a:xfrm>
          <a:prstGeom prst="rect">
            <a:avLst/>
          </a:prstGeom>
        </p:spPr>
      </p:pic>
      <p:sp>
        <p:nvSpPr>
          <p:cNvPr id="16" name="Energia em tempo real"/>
          <p:cNvSpPr txBox="1"/>
          <p:nvPr/>
        </p:nvSpPr>
        <p:spPr>
          <a:xfrm>
            <a:off x="518620" y="3813048"/>
            <a:ext cx="225607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Energia em tempo real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Fluxo entre solar, bateria, rede, galeria e carregadores.</a:t>
            </a:r>
            <a:endParaRPr lang="en-US" sz="1350" dirty="0"/>
          </a:p>
        </p:txBody>
      </p:sp>
      <p:pic>
        <p:nvPicPr>
          <p:cNvPr id="17" name="consumo trecho do app" descr="Consumo solar e da re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315" y="1115568"/>
            <a:ext cx="1964485" cy="2606040"/>
          </a:xfrm>
          <a:prstGeom prst="rect">
            <a:avLst/>
          </a:prstGeom>
        </p:spPr>
      </p:pic>
      <p:sp>
        <p:nvSpPr>
          <p:cNvPr id="18" name="Consumo solar e da rede"/>
          <p:cNvSpPr txBox="1"/>
          <p:nvPr/>
        </p:nvSpPr>
        <p:spPr>
          <a:xfrm>
            <a:off x="2911855" y="3813048"/>
            <a:ext cx="246740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Consumo solar e da rede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Hora a hora, por dia, semana, mês e ano: o que veio do sol e da bateria e o que foi comprado da rede.</a:t>
            </a:r>
            <a:endParaRPr lang="en-US" sz="1350" dirty="0"/>
          </a:p>
        </p:txBody>
      </p:sp>
      <p:pic>
        <p:nvPicPr>
          <p:cNvPr id="19" name="ev trecho do app" descr="Carregadores EV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7880" y="1115568"/>
            <a:ext cx="2606040" cy="2606040"/>
          </a:xfrm>
          <a:prstGeom prst="rect">
            <a:avLst/>
          </a:prstGeom>
        </p:spPr>
      </p:pic>
      <p:sp>
        <p:nvSpPr>
          <p:cNvPr id="20" name="Carregadores EV"/>
          <p:cNvSpPr txBox="1"/>
          <p:nvPr/>
        </p:nvSpPr>
        <p:spPr>
          <a:xfrm>
            <a:off x="5699300" y="3813048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Carregadores EV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Consumo do dia atendido por solar direto, bateria BESS e rede, com o rateio de 80% às vagas.</a:t>
            </a:r>
            <a:endParaRPr lang="en-US" sz="13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 ·  DIFERENCIAIS  ·  4 DE 4</a:t>
            </a:r>
            <a:endParaRPr lang="en-US" sz="1000" dirty="0"/>
          </a:p>
        </p:txBody>
      </p:sp>
      <p:pic>
        <p:nvPicPr>
          <p:cNvPr id="3" name="Título" descr="Dashboards financei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30352"/>
            <a:ext cx="3398520" cy="420624"/>
          </a:xfrm>
          <a:prstGeom prst="rect">
            <a:avLst/>
          </a:prstGeom>
        </p:spPr>
      </p:pic>
      <p:sp>
        <p:nvSpPr>
          <p:cNvPr id="4" name="Seletor"/>
          <p:cNvSpPr/>
          <p:nvPr/>
        </p:nvSpPr>
        <p:spPr>
          <a:xfrm>
            <a:off x="2880360" y="4754880"/>
            <a:ext cx="4107485" cy="310896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pic>
        <p:nvPicPr>
          <p:cNvPr id="5" name="Arquitetu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837176"/>
            <a:ext cx="146304" cy="146304"/>
          </a:xfrm>
          <a:prstGeom prst="rect">
            <a:avLst/>
          </a:prstGeom>
        </p:spPr>
      </p:pic>
      <p:sp>
        <p:nvSpPr>
          <p:cNvPr id="6" name="Arquitetura"/>
          <p:cNvSpPr txBox="1"/>
          <p:nvPr/>
        </p:nvSpPr>
        <p:spPr>
          <a:xfrm>
            <a:off x="3218688" y="4800600"/>
            <a:ext cx="779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Arquitetura</a:t>
            </a:r>
            <a:endParaRPr lang="en-US" sz="950" dirty="0"/>
          </a:p>
        </p:txBody>
      </p:sp>
      <p:pic>
        <p:nvPicPr>
          <p:cNvPr id="7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637" y="4837176"/>
            <a:ext cx="146304" cy="146304"/>
          </a:xfrm>
          <a:prstGeom prst="rect">
            <a:avLst/>
          </a:prstGeom>
        </p:spPr>
      </p:pic>
      <p:sp>
        <p:nvSpPr>
          <p:cNvPr id="8" name="Dados"/>
          <p:cNvSpPr txBox="1"/>
          <p:nvPr/>
        </p:nvSpPr>
        <p:spPr>
          <a:xfrm>
            <a:off x="4363517" y="480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Dados</a:t>
            </a:r>
            <a:endParaRPr lang="en-US" sz="950" dirty="0"/>
          </a:p>
        </p:txBody>
      </p:sp>
      <p:pic>
        <p:nvPicPr>
          <p:cNvPr id="9" name="Persona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837176"/>
            <a:ext cx="146304" cy="146304"/>
          </a:xfrm>
          <a:prstGeom prst="rect">
            <a:avLst/>
          </a:prstGeom>
        </p:spPr>
      </p:pic>
      <p:sp>
        <p:nvSpPr>
          <p:cNvPr id="10" name="Personas"/>
          <p:cNvSpPr txBox="1"/>
          <p:nvPr/>
        </p:nvSpPr>
        <p:spPr>
          <a:xfrm>
            <a:off x="5113325" y="4800600"/>
            <a:ext cx="581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Personas</a:t>
            </a:r>
            <a:endParaRPr lang="en-US" sz="950" dirty="0"/>
          </a:p>
        </p:txBody>
      </p:sp>
      <p:sp>
        <p:nvSpPr>
          <p:cNvPr id="11" name="Diferenciais ativo"/>
          <p:cNvSpPr/>
          <p:nvPr/>
        </p:nvSpPr>
        <p:spPr>
          <a:xfrm>
            <a:off x="5768035" y="4800600"/>
            <a:ext cx="117409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pic>
        <p:nvPicPr>
          <p:cNvPr id="12" name="Diferenciai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837176"/>
            <a:ext cx="146304" cy="146304"/>
          </a:xfrm>
          <a:prstGeom prst="rect">
            <a:avLst/>
          </a:prstGeom>
        </p:spPr>
      </p:pic>
      <p:sp>
        <p:nvSpPr>
          <p:cNvPr id="13" name="Diferenciais"/>
          <p:cNvSpPr txBox="1"/>
          <p:nvPr/>
        </p:nvSpPr>
        <p:spPr>
          <a:xfrm>
            <a:off x="6060643" y="48006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Diferenciais</a:t>
            </a:r>
            <a:endParaRPr lang="en-US" sz="950" dirty="0"/>
          </a:p>
        </p:txBody>
      </p:sp>
      <p:sp>
        <p:nvSpPr>
          <p:cNvPr id="14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  <p:pic>
        <p:nvPicPr>
          <p:cNvPr id="15" name="fat trecho do app" descr="Faturamen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641" y="1115568"/>
            <a:ext cx="2111463" cy="2606040"/>
          </a:xfrm>
          <a:prstGeom prst="rect">
            <a:avLst/>
          </a:prstGeom>
        </p:spPr>
      </p:pic>
      <p:sp>
        <p:nvSpPr>
          <p:cNvPr id="16" name="Faturamento"/>
          <p:cNvSpPr txBox="1"/>
          <p:nvPr/>
        </p:nvSpPr>
        <p:spPr>
          <a:xfrm>
            <a:off x="736181" y="3813048"/>
            <a:ext cx="2614383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Faturamento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Receita das vagas e energia não comprada, por dia, mês e ano.</a:t>
            </a:r>
            <a:endParaRPr lang="en-US" sz="1350" dirty="0"/>
          </a:p>
        </p:txBody>
      </p:sp>
      <p:pic>
        <p:nvPicPr>
          <p:cNvPr id="17" name="gasto trecho do app" descr="Gasto com a re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184" y="1115568"/>
            <a:ext cx="1568924" cy="2606040"/>
          </a:xfrm>
          <a:prstGeom prst="rect">
            <a:avLst/>
          </a:prstGeom>
        </p:spPr>
      </p:pic>
      <p:sp>
        <p:nvSpPr>
          <p:cNvPr id="18" name="Gasto com a rede"/>
          <p:cNvSpPr txBox="1"/>
          <p:nvPr/>
        </p:nvSpPr>
        <p:spPr>
          <a:xfrm>
            <a:off x="3487724" y="3813048"/>
            <a:ext cx="20718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Gasto com a rede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 da galeria e do eletroposto, créditos e economia do load shifting.</a:t>
            </a:r>
            <a:endParaRPr lang="en-US" sz="1350" dirty="0"/>
          </a:p>
        </p:txBody>
      </p:sp>
      <p:pic>
        <p:nvPicPr>
          <p:cNvPr id="19" name="dist trecho do app" descr="Distribuição da energia sol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8188" y="1115568"/>
            <a:ext cx="2208171" cy="2606040"/>
          </a:xfrm>
          <a:prstGeom prst="rect">
            <a:avLst/>
          </a:prstGeom>
        </p:spPr>
      </p:pic>
      <p:sp>
        <p:nvSpPr>
          <p:cNvPr id="20" name="Distribuição da energia solar"/>
          <p:cNvSpPr txBox="1"/>
          <p:nvPr/>
        </p:nvSpPr>
        <p:spPr>
          <a:xfrm>
            <a:off x="5696728" y="3813048"/>
            <a:ext cx="2711091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Distribuição da energia solar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onde foi o sol do dia, com receita e economia por destino.</a:t>
            </a:r>
            <a:endParaRPr lang="en-US" sz="13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11480" y="51206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57032" y="4791456"/>
            <a:ext cx="475488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5D6572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quipe"/>
          <p:cNvSpPr txBox="1"/>
          <p:nvPr/>
        </p:nvSpPr>
        <p:spPr>
          <a:xfrm>
            <a:off x="457200" y="6858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  ·  TURMA CCPW  ·  EQUIPE 4</a:t>
            </a:r>
            <a:endParaRPr lang="en-US" sz="1000" dirty="0"/>
          </a:p>
        </p:txBody>
      </p:sp>
      <p:pic>
        <p:nvPicPr>
          <p:cNvPr id="3" name="Obrigado" descr="Obrigado!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860" y="955548"/>
            <a:ext cx="3002280" cy="868680"/>
          </a:xfrm>
          <a:prstGeom prst="rect">
            <a:avLst/>
          </a:prstGeom>
        </p:spPr>
      </p:pic>
      <p:pic>
        <p:nvPicPr>
          <p:cNvPr id="4" name="Patrick Fernandes Martins Pais foto" descr="Foto de Patrick Fernandes Martins Pa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148840"/>
            <a:ext cx="1024128" cy="1024128"/>
          </a:xfrm>
          <a:prstGeom prst="rect">
            <a:avLst/>
          </a:prstGeom>
        </p:spPr>
      </p:pic>
      <p:sp>
        <p:nvSpPr>
          <p:cNvPr id="5" name="Patrick Fernandes Martins Pais"/>
          <p:cNvSpPr txBox="1"/>
          <p:nvPr/>
        </p:nvSpPr>
        <p:spPr>
          <a:xfrm>
            <a:off x="502920" y="3300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Patrick Fernandes Martins Pais</a:t>
            </a:r>
            <a:endParaRPr lang="en-US" sz="1100" dirty="0"/>
          </a:p>
        </p:txBody>
      </p:sp>
      <p:sp>
        <p:nvSpPr>
          <p:cNvPr id="6" name="Patrick Fernandes Martins Pais descritivo"/>
          <p:cNvSpPr txBox="1"/>
          <p:nvPr/>
        </p:nvSpPr>
        <p:spPr>
          <a:xfrm>
            <a:off x="5029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Scrum Master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RM 572899</a:t>
            </a:r>
            <a:endParaRPr lang="en-US" sz="950" dirty="0"/>
          </a:p>
        </p:txBody>
      </p:sp>
      <p:pic>
        <p:nvPicPr>
          <p:cNvPr id="7" name="Bruna Yukimy Hada foto" descr="Foto de Bruna Yukimy H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2148840"/>
            <a:ext cx="1024128" cy="1024128"/>
          </a:xfrm>
          <a:prstGeom prst="rect">
            <a:avLst/>
          </a:prstGeom>
        </p:spPr>
      </p:pic>
      <p:sp>
        <p:nvSpPr>
          <p:cNvPr id="8" name="Bruna Yukimy Hada"/>
          <p:cNvSpPr txBox="1"/>
          <p:nvPr/>
        </p:nvSpPr>
        <p:spPr>
          <a:xfrm>
            <a:off x="1874520" y="3300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Bruna Yukimy Hada</a:t>
            </a:r>
            <a:endParaRPr lang="en-US" sz="1100" dirty="0"/>
          </a:p>
        </p:txBody>
      </p:sp>
      <p:sp>
        <p:nvSpPr>
          <p:cNvPr id="9" name="Bruna Yukimy Hada descritivo"/>
          <p:cNvSpPr txBox="1"/>
          <p:nvPr/>
        </p:nvSpPr>
        <p:spPr>
          <a:xfrm>
            <a:off x="18745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Desenvolvedora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RM 571836</a:t>
            </a:r>
            <a:endParaRPr lang="en-US" sz="950" dirty="0"/>
          </a:p>
        </p:txBody>
      </p:sp>
      <p:pic>
        <p:nvPicPr>
          <p:cNvPr id="10" name="Denize Ferrante foto" descr="Foto de Denize Ferra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2148840"/>
            <a:ext cx="1024128" cy="1024128"/>
          </a:xfrm>
          <a:prstGeom prst="rect">
            <a:avLst/>
          </a:prstGeom>
        </p:spPr>
      </p:pic>
      <p:sp>
        <p:nvSpPr>
          <p:cNvPr id="11" name="Denize Ferrante"/>
          <p:cNvSpPr txBox="1"/>
          <p:nvPr/>
        </p:nvSpPr>
        <p:spPr>
          <a:xfrm>
            <a:off x="3246120" y="3300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Denize Ferrante</a:t>
            </a:r>
            <a:endParaRPr lang="en-US" sz="1100" dirty="0"/>
          </a:p>
        </p:txBody>
      </p:sp>
      <p:sp>
        <p:nvSpPr>
          <p:cNvPr id="12" name="Denize Ferrante descritivo"/>
          <p:cNvSpPr txBox="1"/>
          <p:nvPr/>
        </p:nvSpPr>
        <p:spPr>
          <a:xfrm>
            <a:off x="32461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Desenvolvedora e Product Owner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RM 571562</a:t>
            </a:r>
            <a:endParaRPr lang="en-US" sz="950" dirty="0"/>
          </a:p>
        </p:txBody>
      </p:sp>
      <p:pic>
        <p:nvPicPr>
          <p:cNvPr id="13" name="Gabriel Del Pizzo Pintor foto" descr="Foto de Gabriel Del Pizzo Pin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148840"/>
            <a:ext cx="1024128" cy="1024128"/>
          </a:xfrm>
          <a:prstGeom prst="rect">
            <a:avLst/>
          </a:prstGeom>
        </p:spPr>
      </p:pic>
      <p:sp>
        <p:nvSpPr>
          <p:cNvPr id="14" name="Gabriel Del Pizzo Pintor"/>
          <p:cNvSpPr txBox="1"/>
          <p:nvPr/>
        </p:nvSpPr>
        <p:spPr>
          <a:xfrm>
            <a:off x="4617720" y="3300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Gabriel Del Pizzo Pintor</a:t>
            </a:r>
            <a:endParaRPr lang="en-US" sz="1100" dirty="0"/>
          </a:p>
        </p:txBody>
      </p:sp>
      <p:sp>
        <p:nvSpPr>
          <p:cNvPr id="15" name="Gabriel Del Pizzo Pintor descritivo"/>
          <p:cNvSpPr txBox="1"/>
          <p:nvPr/>
        </p:nvSpPr>
        <p:spPr>
          <a:xfrm>
            <a:off x="46177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Desenvolvedor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RM 570436</a:t>
            </a:r>
            <a:endParaRPr lang="en-US" sz="950" dirty="0"/>
          </a:p>
        </p:txBody>
      </p:sp>
      <p:pic>
        <p:nvPicPr>
          <p:cNvPr id="16" name="Gabriel Dias Menezes foto" descr="Foto de Gabriel Dias Menez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2148840"/>
            <a:ext cx="1024128" cy="1024128"/>
          </a:xfrm>
          <a:prstGeom prst="rect">
            <a:avLst/>
          </a:prstGeom>
        </p:spPr>
      </p:pic>
      <p:sp>
        <p:nvSpPr>
          <p:cNvPr id="17" name="Gabriel Dias Menezes"/>
          <p:cNvSpPr txBox="1"/>
          <p:nvPr/>
        </p:nvSpPr>
        <p:spPr>
          <a:xfrm>
            <a:off x="5989320" y="3300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Gabriel Dias Menezes</a:t>
            </a:r>
            <a:endParaRPr lang="en-US" sz="1100" dirty="0"/>
          </a:p>
        </p:txBody>
      </p:sp>
      <p:sp>
        <p:nvSpPr>
          <p:cNvPr id="18" name="Gabriel Dias Menezes descritivo"/>
          <p:cNvSpPr txBox="1"/>
          <p:nvPr/>
        </p:nvSpPr>
        <p:spPr>
          <a:xfrm>
            <a:off x="59893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Desenvolvedor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RM 572395</a:t>
            </a:r>
            <a:endParaRPr lang="en-US" sz="950" dirty="0"/>
          </a:p>
        </p:txBody>
      </p:sp>
      <p:pic>
        <p:nvPicPr>
          <p:cNvPr id="19" name="Ian Rodrigues Martins foto" descr="Foto de Ian Rodrigues Martin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936" y="2148840"/>
            <a:ext cx="1024128" cy="1024128"/>
          </a:xfrm>
          <a:prstGeom prst="rect">
            <a:avLst/>
          </a:prstGeom>
        </p:spPr>
      </p:pic>
      <p:sp>
        <p:nvSpPr>
          <p:cNvPr id="20" name="Ian Rodrigues Martins"/>
          <p:cNvSpPr txBox="1"/>
          <p:nvPr/>
        </p:nvSpPr>
        <p:spPr>
          <a:xfrm>
            <a:off x="7360920" y="3300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C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Ian Rodrigues Martins</a:t>
            </a:r>
            <a:endParaRPr lang="en-US" sz="1100" dirty="0"/>
          </a:p>
        </p:txBody>
      </p:sp>
      <p:sp>
        <p:nvSpPr>
          <p:cNvPr id="21" name="Ian Rodrigues Martins descritivo"/>
          <p:cNvSpPr txBox="1"/>
          <p:nvPr/>
        </p:nvSpPr>
        <p:spPr>
          <a:xfrm>
            <a:off x="73609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A2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Desenvolvedor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849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RM 570540</a:t>
            </a:r>
            <a:endParaRPr lang="en-US" sz="950" dirty="0"/>
          </a:p>
        </p:txBody>
      </p:sp>
      <p:sp>
        <p:nvSpPr>
          <p:cNvPr id="22" name="Marca"/>
          <p:cNvSpPr txBox="1"/>
          <p:nvPr/>
        </p:nvSpPr>
        <p:spPr>
          <a:xfrm>
            <a:off x="411480" y="4809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33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ChargeGrid</a:t>
            </a:r>
            <a:pPr indent="0" marL="0">
              <a:buNone/>
            </a:pPr>
            <a:r>
              <a:rPr lang="en-US" sz="950" dirty="0">
                <a:solidFill>
                  <a:srgbClr val="5D65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Intelligence</a:t>
            </a:r>
            <a:pPr indent="0" marL="0">
              <a:buNone/>
            </a:pPr>
            <a:r>
              <a:rPr lang="en-US" sz="950" dirty="0">
                <a:solidFill>
                  <a:srgbClr val="C9CE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4E9A0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Ecovolts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rgeGrid">
  <a:themeElements>
    <a:clrScheme name="ChargeGrid">
      <a:dk1>
        <a:srgbClr val="131C2E"/>
      </a:dk1>
      <a:lt1>
        <a:srgbClr val="FFFFFF"/>
      </a:lt1>
      <a:dk2>
        <a:srgbClr val="5D6572"/>
      </a:dk2>
      <a:lt2>
        <a:srgbClr val="F2F3F6"/>
      </a:lt2>
      <a:accent1>
        <a:srgbClr val="F5333F"/>
      </a:accent1>
      <a:accent2>
        <a:srgbClr val="149D68"/>
      </a:accent2>
      <a:accent3>
        <a:srgbClr val="3577F1"/>
      </a:accent3>
      <a:accent4>
        <a:srgbClr val="F2B01E"/>
      </a:accent4>
      <a:accent5>
        <a:srgbClr val="9CFE33"/>
      </a:accent5>
      <a:accent6>
        <a:srgbClr val="C21A2C"/>
      </a:accent6>
      <a:hlink>
        <a:srgbClr val="2B57A8"/>
      </a:hlink>
      <a:folHlink>
        <a:srgbClr val="2B57A8"/>
      </a:folHlink>
    </a:clrScheme>
    <a:fontScheme name="ChargeGrid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ChargeGrid Intelligence</dc:title>
  <dc:subject>PptxGenJS Presentation</dc:subject>
  <dc:creator>Equipe Ecovolts</dc:creator>
  <cp:lastModifiedBy>Equipe Ecovolts</cp:lastModifiedBy>
  <cp:revision>1</cp:revision>
  <dcterms:created xsi:type="dcterms:W3CDTF">2026-10-22T15:31:37Z</dcterms:created>
  <dcterms:modified xsi:type="dcterms:W3CDTF">2026-10-22T15:31:37Z</dcterms:modified>
</cp:coreProperties>
</file>